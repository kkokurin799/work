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 ИИ сокращает трудозатраты: формула и атомы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EBF7"/>
                </a:solidFill>
              </a:rPr>
              <a:t>Экономию считаем по атомам работы в часах, а не одним процентом на вид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</a:rPr>
              <a:t>1/3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6599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005840"/>
                <a:gridCol w="4206240"/>
                <a:gridCol w="2221992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Блок типовой задачи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Доля часов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Что делает ИИ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Что ИИ почти не ускоряет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Экономия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Аналитика и согласования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Протоколы встреч, разбор нормативки, черновик постановки и критериев приёмки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Переговоры с заказчиком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−31%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Разработка и сборка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Код по постановке, автоматическое ревью, анализ влияния, пайплайны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Выбор решения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−36%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Тестирование и ПСИ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Тест-кейсы, тестовые данные, автотесты, локализация дефектов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Сами испытания с заказчиком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−35%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62626"/>
                          </a:solidFill>
                        </a:defRPr>
                      </a:pPr>
                      <a:r>
                        <a:t>Типовая задача в целом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62626"/>
                          </a:solidFill>
                        </a:defRPr>
                      </a:pPr>
                      <a:r>
                        <a:t>Заказные доработки, законодательство, развитие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</a:defRPr>
                      </a:pPr>
                      <a:r>
                        <a:t>−34%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3794760"/>
            <a:ext cx="5577840" cy="251460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Формула</a:t>
            </a:r>
          </a:p>
          <a:p>
            <a:pPr algn="l"/>
            <a:r>
              <a:rPr sz="1400" b="1">
                <a:solidFill>
                  <a:srgbClr val="262626"/>
                </a:solidFill>
              </a:rPr>
              <a:t>Экономия вида работ:  E = Σ w × a</a:t>
            </a:r>
          </a:p>
          <a:p>
            <a:pPr algn="l"/>
            <a:r>
              <a:rPr sz="1400" b="0">
                <a:solidFill>
                  <a:srgbClr val="262626"/>
                </a:solidFill>
              </a:rPr>
              <a:t>w — доля атома в часах, a — насколько ИИ сокращает часы атома</a:t>
            </a:r>
          </a:p>
          <a:p>
            <a:pPr algn="l"/>
            <a:r>
              <a:rPr sz="1400" b="1">
                <a:solidFill>
                  <a:srgbClr val="262626"/>
                </a:solidFill>
              </a:rPr>
              <a:t>Нужно людей:  Σ FTE × (1 − E) × (1 + o) − R</a:t>
            </a:r>
          </a:p>
          <a:p>
            <a:pPr algn="l"/>
            <a:r>
              <a:rPr sz="1400" b="0">
                <a:solidFill>
                  <a:srgbClr val="262626"/>
                </a:solidFill>
              </a:rPr>
              <a:t>o = 5% — ревью результатов агентов и доводка пайплайна</a:t>
            </a:r>
          </a:p>
          <a:p>
            <a:pPr algn="l"/>
            <a:r>
              <a:rPr sz="1400" b="0">
                <a:solidFill>
                  <a:srgbClr val="262626"/>
                </a:solidFill>
              </a:rPr>
              <a:t>R — меньше переделок благодаря Intent-команде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3794760"/>
          <a:ext cx="55595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2816352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Другие виды работ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Экономия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Почему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Сопровождение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−33%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Классификация и ответы — да, диагностика — частично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Внедрение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−20%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Плюс половина работы уходит в Intent-команду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Пресейлы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−15%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Встречи и демо ИИ не ускоряет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5440680"/>
            <a:ext cx="5559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5000"/>
                </a:solidFill>
              </a:rPr>
              <a:t>Почему не 40–50%: </a:t>
            </a:r>
            <a:r>
              <a:rPr sz="1300" b="0">
                <a:solidFill>
                  <a:srgbClr val="262626"/>
                </a:solidFill>
              </a:rPr>
              <a:t>ускорив вдвое всю разработку, получим только 15% общего эффекта. Предел задают согласования и ПСИ.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Численность: 60 → 42 человек (−30%)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EBF7"/>
                </a:solidFill>
              </a:rPr>
              <a:t>Шаг 1: сколько людей нужно при сегодняшнем объёме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</a:rPr>
              <a:t>2/3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56692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"/>
                <a:gridCol w="10972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Вид работ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Сейчас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Экономия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Нужно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Заказные доработки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9,6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−34%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6,3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Поддержка законодательства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14,4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−34%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9,4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Развитие продукта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4,8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−34%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3,1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Поддержка проектов внедрения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4,8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−20%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3,8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Сопровождение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12,0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−33%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8,0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Пресейлы и обследования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2,4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−15%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2,0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Накладные ИИ − переделки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+0,7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62626"/>
                          </a:solidFill>
                        </a:defRPr>
                      </a:pPr>
                      <a:r>
                        <a:t>Исполнителей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62626"/>
                          </a:solidFill>
                        </a:defRPr>
                      </a:pPr>
                      <a:r>
                        <a:t>48,0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62626"/>
                          </a:solidFill>
                        </a:defRPr>
                      </a:pPr>
                      <a:r>
                        <a:t>−30%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62626"/>
                          </a:solidFill>
                        </a:defRPr>
                      </a:pPr>
                      <a:r>
                        <a:t>33,5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188720"/>
          <a:ext cx="5468112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9312"/>
                <a:gridCol w="118872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Команда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РК / А / Р / Т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Чел.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Intent-команда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5 экспертов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Продуктовый учёт по всем рынкам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 / 2 / 2 / 1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Внутренний, бух. и доверительный учёт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 / 2 / 2 / 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НДФЛ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 / 2 / 2 / 1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Кор-команда по фининструментам (FA и MSA)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 / 1 / 3 / 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Микросервисная (рыночные данные и др.)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 / 1 / 2 / 2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Роли вне команд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62626"/>
                          </a:solidFill>
                        </a:defRPr>
                      </a:pPr>
                      <a:r>
                        <a:t>Итого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62626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4434840"/>
          <a:ext cx="694944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188720"/>
                <a:gridCol w="1097280"/>
                <a:gridCol w="1280160"/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Сверка по ролям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Сейчас в штате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Нужно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В структуре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Аналитика (включая Intent-команду)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14,6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Разработка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9,8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Тестирование и DevOps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9,1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Руководители на задачах (половина времени)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2,5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62626"/>
                          </a:solidFill>
                        </a:defRPr>
                      </a:pPr>
                      <a:r>
                        <a:t>Итого исполнителей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62626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62626"/>
                          </a:solidFill>
                        </a:defRPr>
                      </a:pPr>
                      <a:r>
                        <a:t>33,5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62626"/>
                          </a:solidFill>
                        </a:defRPr>
                      </a:pPr>
                      <a:r>
                        <a:t>33,5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4526280"/>
            <a:ext cx="4187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5000"/>
                </a:solidFill>
              </a:rPr>
              <a:t>Структура закрывает потребность: </a:t>
            </a:r>
            <a:r>
              <a:rPr sz="1300" b="0">
                <a:solidFill>
                  <a:srgbClr val="262626"/>
                </a:solidFill>
              </a:rPr>
              <a:t>33,5 исполнителя при потребности 33,5.</a:t>
            </a:r>
          </a:p>
          <a:p>
            <a:pPr algn="l"/>
            <a:r>
              <a:rPr sz="1300" b="1">
                <a:solidFill>
                  <a:srgbClr val="262626"/>
                </a:solidFill>
              </a:rPr>
              <a:t>ИИ сильнее всего сжимает разработку. </a:t>
            </a:r>
            <a:r>
              <a:rPr sz="1300" b="0">
                <a:solidFill>
                  <a:srgbClr val="262626"/>
                </a:solidFill>
              </a:rPr>
              <a:t>Нехватку тестирования закрывают продуктовые инженеры: избыток разработки уходит в автотесты с агентами.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Процентовка работ TO-BE: заказных доработок вдвое больше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EBF7"/>
                </a:solidFill>
              </a:rPr>
              <a:t>Шаг 2: при тех же 42 людях меняем структуру работ, а не численность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</a:rPr>
              <a:t>3/3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6599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"/>
                <a:gridCol w="5696712"/>
                <a:gridCol w="109728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Вид работ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AS-IS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Как меняется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Нужно, чел.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TO-BE</a:t>
                      </a:r>
                    </a:p>
                  </a:txBody>
                  <a:tcPr marL="54864" marR="54864" marT="27432" marB="27432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Заказные доработки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Вся высвобожденная мощность; объём ×2,0 к сегодняшнему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11,3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Поддержка законодательства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ИИ −34%; запас +10% объёма на рост нормативки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8,6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Развитие продукта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ИИ −34%; +10% объёма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2,9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Поддержка проектов внедрения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Половина — в Intent-команду; тиражные скрипты настройки и миграции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1,4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Сопровождение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Агент первой линии; вдвое меньше обращений за счёт качества (Intent-команда, автотесты)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2,9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Пресейлы и обследования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Типовой пакет пресейла и демо-стенд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1,4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62626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marL="54864" marR="54864" marT="27432" marB="27432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62626"/>
                          </a:solidFill>
                        </a:defRPr>
                      </a:pPr>
                      <a:r>
                        <a:t>Итого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</a:defRPr>
                      </a:pPr>
                      <a:r>
                        <a:t>28,5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937760"/>
            <a:ext cx="5577840" cy="137160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00176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8"/>
                </a:solidFill>
              </a:rPr>
              <a:t>Логика</a:t>
            </a:r>
          </a:p>
          <a:p>
            <a:pPr algn="l"/>
            <a:r>
              <a:rPr sz="1200" b="0">
                <a:solidFill>
                  <a:srgbClr val="262626"/>
                </a:solidFill>
              </a:rPr>
              <a:t>Обязательные потоки (законодательство, развитие) сохраняют объём и дешевеют на треть. Сопровождение, внедрение и пресейлы сжимаются агентами и типовыми решениями. Остаток мощности — в заказные доработки, то есть в выручку.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5559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5000"/>
                </a:solidFill>
              </a:rPr>
              <a:t>Главное условие — вдвое меньше обращений в сопровождение. </a:t>
            </a:r>
            <a:r>
              <a:rPr sz="1200" b="0">
                <a:solidFill>
                  <a:srgbClr val="262626"/>
                </a:solidFill>
              </a:rPr>
              <a:t>Если только −30%: сопровождение 14%, заказные доработки 36%. Численность при этом не меняется.</a:t>
            </a:r>
          </a:p>
          <a:p>
            <a:pPr algn="l"/>
            <a:r>
              <a:rPr sz="1200" b="1">
                <a:solidFill>
                  <a:srgbClr val="262626"/>
                </a:solidFill>
              </a:rPr>
              <a:t>База процентовки: </a:t>
            </a:r>
            <a:r>
              <a:rPr sz="1200" b="0">
                <a:solidFill>
                  <a:srgbClr val="262626"/>
                </a:solidFill>
              </a:rPr>
              <a:t>28,5 чел. в производственных командах (исполнители и половина времени руководителей). Intent-команда — отдельная функция.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